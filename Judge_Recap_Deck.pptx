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RECAP  ·  JUDGING CRITERIA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41732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645920" y="246888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context-aware mock API ecosystem — one HTML file, zero dependencies.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3977640"/>
            <a:ext cx="7436815" cy="0"/>
          </a:xfrm>
          <a:prstGeom prst="line">
            <a:avLst/>
          </a:prstGeom>
          <a:noFill/>
          <a:ln w="19050">
            <a:solidFill>
              <a:srgbClr val="262B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372160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3922776"/>
            <a:ext cx="109728" cy="109728"/>
          </a:xfrm>
          <a:prstGeom prst="ellipse">
            <a:avLst/>
          </a:prstGeom>
          <a:solidFill>
            <a:srgbClr val="33E0FF"/>
          </a:solidFill>
          <a:ln/>
        </p:spPr>
      </p:sp>
      <p:sp>
        <p:nvSpPr>
          <p:cNvPr id="8" name="Text 6"/>
          <p:cNvSpPr/>
          <p:nvPr/>
        </p:nvSpPr>
        <p:spPr>
          <a:xfrm>
            <a:off x="1773936" y="37216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/ NL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41978" y="372160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06570" y="3922776"/>
            <a:ext cx="109728" cy="109728"/>
          </a:xfrm>
          <a:prstGeom prst="ellipse">
            <a:avLst/>
          </a:prstGeom>
          <a:solidFill>
            <a:srgbClr val="33E0FF"/>
          </a:solidFill>
          <a:ln/>
        </p:spPr>
      </p:sp>
      <p:sp>
        <p:nvSpPr>
          <p:cNvPr id="11" name="Text 9"/>
          <p:cNvSpPr/>
          <p:nvPr/>
        </p:nvSpPr>
        <p:spPr>
          <a:xfrm>
            <a:off x="4252874" y="37216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20917" y="372160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5509" y="3922776"/>
            <a:ext cx="109728" cy="109728"/>
          </a:xfrm>
          <a:prstGeom prst="ellipse">
            <a:avLst/>
          </a:prstGeom>
          <a:solidFill>
            <a:srgbClr val="33E0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31813" y="37216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99855" y="372160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64447" y="3922776"/>
            <a:ext cx="109728" cy="109728"/>
          </a:xfrm>
          <a:prstGeom prst="ellipse">
            <a:avLst/>
          </a:prstGeom>
          <a:solidFill>
            <a:srgbClr val="33E0FF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751" y="37216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SDK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across 6 criteria  ·  100 points total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457200"/>
            <a:ext cx="960120" cy="960120"/>
          </a:xfrm>
          <a:prstGeom prst="ellipse">
            <a:avLst/>
          </a:prstGeom>
          <a:solidFill>
            <a:srgbClr val="7C5CFF">
              <a:alpha val="88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530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28655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CRITERION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Innovation and Originality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66928" cy="566928"/>
          </a:xfrm>
          <a:prstGeom prst="ellipse">
            <a:avLst/>
          </a:prstGeom>
          <a:solidFill>
            <a:srgbClr val="7C5CFF">
              <a:alpha val="22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64" dirty="0"/>
          </a:p>
        </p:txBody>
      </p:sp>
      <p:sp>
        <p:nvSpPr>
          <p:cNvPr id="9" name="Text 7"/>
          <p:cNvSpPr/>
          <p:nvPr/>
        </p:nvSpPr>
        <p:spPr>
          <a:xfrm>
            <a:off x="1252728" y="18379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Input Methods, One Pipeline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2728" y="22037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English, an OpenAPI spec, or a Postman collection — all feed the same engine.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566928" cy="566928"/>
          </a:xfrm>
          <a:prstGeom prst="ellipse">
            <a:avLst/>
          </a:prstGeom>
          <a:solidFill>
            <a:srgbClr val="7C5CFF">
              <a:alpha val="22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64" dirty="0"/>
          </a:p>
        </p:txBody>
      </p:sp>
      <p:sp>
        <p:nvSpPr>
          <p:cNvPr id="13" name="Text 11"/>
          <p:cNvSpPr/>
          <p:nvPr/>
        </p:nvSpPr>
        <p:spPr>
          <a:xfrm>
            <a:off x="1252728" y="32095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the Loop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52728" y="35753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mock tools stop at fake data. We also auto-generate the frontend client code that consumes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566928" cy="566928"/>
          </a:xfrm>
          <a:prstGeom prst="ellipse">
            <a:avLst/>
          </a:prstGeom>
          <a:solidFill>
            <a:srgbClr val="7C5CFF">
              <a:alpha val="22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1252728" y="4581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Schema Inference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52728" y="49469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types are inferred from context — not hand-typed JSON schemas.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23760" y="1828800"/>
            <a:ext cx="4465015" cy="4160520"/>
          </a:xfrm>
          <a:prstGeom prst="roundRect">
            <a:avLst>
              <a:gd name="adj" fmla="val 1978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02996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242316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JSON schema only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0" y="2807208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auto-detected input formats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347472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data, nothing else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0" y="3858768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endpoints + tests + SDK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0" y="452628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one-shot output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98080" y="4910328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editable, re-generates instantly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3117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Innovation &amp; Originality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457200"/>
            <a:ext cx="960120" cy="960120"/>
          </a:xfrm>
          <a:prstGeom prst="ellipse">
            <a:avLst/>
          </a:prstGeom>
          <a:solidFill>
            <a:srgbClr val="33E0FF">
              <a:alpha val="88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530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28655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CRITERION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Implementations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45738" cy="1783080"/>
          </a:xfrm>
          <a:prstGeom prst="roundRect">
            <a:avLst>
              <a:gd name="adj" fmla="val 4615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3E0FF">
              <a:alpha val="22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7919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Parser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026664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type-inference engine reads plain English.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2978" y="1965960"/>
            <a:ext cx="3545738" cy="1783080"/>
          </a:xfrm>
          <a:prstGeom prst="roundRect">
            <a:avLst>
              <a:gd name="adj" fmla="val 4615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1578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3E0FF">
              <a:alpha val="22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157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51578" y="267919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 Parser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1578" y="3026664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components.schemas &amp; required fields directly.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43037" y="1965960"/>
            <a:ext cx="3545738" cy="1783080"/>
          </a:xfrm>
          <a:prstGeom prst="roundRect">
            <a:avLst>
              <a:gd name="adj" fmla="val 4615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1637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3E0FF">
              <a:alpha val="22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1637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1637" y="267919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Postman Walker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71637" y="3026664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traversal — handles nested collection folders.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3545738" cy="1783080"/>
          </a:xfrm>
          <a:prstGeom prst="roundRect">
            <a:avLst>
              <a:gd name="adj" fmla="val 4615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251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3E0FF">
              <a:alpha val="22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3659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Data Generators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084064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fake values per type — no lorem ipsum.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2978" y="4023360"/>
            <a:ext cx="3545738" cy="1783080"/>
          </a:xfrm>
          <a:prstGeom prst="roundRect">
            <a:avLst>
              <a:gd name="adj" fmla="val 4615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1578" y="4251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3E0FF">
              <a:alpha val="22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1578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51578" y="473659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Engine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51578" y="5084064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required-field checking against the schema.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43037" y="4023360"/>
            <a:ext cx="3545738" cy="1783080"/>
          </a:xfrm>
          <a:prstGeom prst="roundRect">
            <a:avLst>
              <a:gd name="adj" fmla="val 4615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71637" y="4251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3E0FF">
              <a:alpha val="22000"/>
            </a:srgbClr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1637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71637" y="473659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Code Generators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71637" y="5084064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JS, TypeScript &amp; React client SDKs.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vanilla JavaScript  ·  zero libraries  ·  zero build step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3117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Implementations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457200"/>
            <a:ext cx="960120" cy="960120"/>
          </a:xfrm>
          <a:prstGeom prst="ellipse">
            <a:avLst/>
          </a:prstGeom>
          <a:solidFill>
            <a:srgbClr val="3DDC97">
              <a:alpha val="88000"/>
            </a:srgbClr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530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28655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CRITERION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Functionality and Completion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the pipeline works end-to-end — nothing is a placeholder.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1673809" cy="1005840"/>
          </a:xfrm>
          <a:prstGeom prst="roundRect">
            <a:avLst>
              <a:gd name="adj" fmla="val 9091"/>
            </a:avLst>
          </a:prstGeom>
          <a:solidFill>
            <a:srgbClr val="141826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" y="3017520"/>
            <a:ext cx="15640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76729" y="3154680"/>
            <a:ext cx="22860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05329" y="2651760"/>
            <a:ext cx="1673809" cy="1005840"/>
          </a:xfrm>
          <a:prstGeom prst="roundRect">
            <a:avLst>
              <a:gd name="adj" fmla="val 9091"/>
            </a:avLst>
          </a:prstGeom>
          <a:solidFill>
            <a:srgbClr val="141826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5329" y="274320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0193" y="3017520"/>
            <a:ext cx="15640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79138" y="3154680"/>
            <a:ext cx="22860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07738" y="2651760"/>
            <a:ext cx="1673809" cy="1005840"/>
          </a:xfrm>
          <a:prstGeom prst="roundRect">
            <a:avLst>
              <a:gd name="adj" fmla="val 9091"/>
            </a:avLst>
          </a:prstGeom>
          <a:solidFill>
            <a:srgbClr val="141826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7738" y="274320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62602" y="3017520"/>
            <a:ext cx="15640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1548" y="3154680"/>
            <a:ext cx="22860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10148" y="2651760"/>
            <a:ext cx="1673809" cy="1005840"/>
          </a:xfrm>
          <a:prstGeom prst="roundRect">
            <a:avLst>
              <a:gd name="adj" fmla="val 9091"/>
            </a:avLst>
          </a:prstGeom>
          <a:solidFill>
            <a:srgbClr val="141826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0148" y="274320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5012" y="3017520"/>
            <a:ext cx="15640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83957" y="3154680"/>
            <a:ext cx="22860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12557" y="2651760"/>
            <a:ext cx="1673809" cy="1005840"/>
          </a:xfrm>
          <a:prstGeom prst="roundRect">
            <a:avLst>
              <a:gd name="adj" fmla="val 9091"/>
            </a:avLst>
          </a:prstGeom>
          <a:solidFill>
            <a:srgbClr val="141826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2557" y="274320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67421" y="3017520"/>
            <a:ext cx="15640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786366" y="3154680"/>
            <a:ext cx="22860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4966" y="2651760"/>
            <a:ext cx="1673809" cy="1005840"/>
          </a:xfrm>
          <a:prstGeom prst="roundRect">
            <a:avLst>
              <a:gd name="adj" fmla="val 9091"/>
            </a:avLst>
          </a:prstGeom>
          <a:solidFill>
            <a:srgbClr val="141826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4966" y="274320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69830" y="3017520"/>
            <a:ext cx="15640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4114800"/>
            <a:ext cx="11185855" cy="1965960"/>
          </a:xfrm>
          <a:prstGeom prst="roundRect">
            <a:avLst>
              <a:gd name="adj" fmla="val 4186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34340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language, OpenAPI &amp; Postman import — all functional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4681728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Builder — add / edit / delete fields live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020056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data, JSON viewer, copy &amp; download — all working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358384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Tester + live Telemetry feed — real interaction, real logs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69671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SDK generator — JavaScript, TypeScript &amp; React, all valid code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3117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Functionality &amp; Completion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457200"/>
            <a:ext cx="960120" cy="960120"/>
          </a:xfrm>
          <a:prstGeom prst="ellipse">
            <a:avLst/>
          </a:prstGeom>
          <a:solidFill>
            <a:srgbClr val="FFB454">
              <a:alpha val="88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530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28655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CRITERION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Solving and Impact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10048" cy="4206240"/>
          </a:xfrm>
          <a:prstGeom prst="roundRect">
            <a:avLst>
              <a:gd name="adj" fmla="val 1957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30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isn't ready when frontend needs to start building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30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fake data goes stale the moment the real API changes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300" dirty="0">
                <a:solidFill>
                  <a:srgbClr val="90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every sprint waiting or hand-coding mocks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1874520"/>
            <a:ext cx="5410048" cy="4206240"/>
          </a:xfrm>
          <a:prstGeom prst="roundRect">
            <a:avLst>
              <a:gd name="adj" fmla="val 1957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3048" y="21031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IMPACT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3048" y="25603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 mock API in under 30 seconds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361188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 solved commercially by Postman Mock Servers &amp; Mockoon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3048" y="46634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 cost — any team, any laptop, no installs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3117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Solving &amp; Impact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457200"/>
            <a:ext cx="960120" cy="960120"/>
          </a:xfrm>
          <a:prstGeom prst="ellipse">
            <a:avLst/>
          </a:prstGeom>
          <a:solidFill>
            <a:srgbClr val="FF9DE2">
              <a:alpha val="88000"/>
            </a:srgbClr>
          </a:solidFill>
          <a:ln w="12700">
            <a:solidFill>
              <a:srgbClr val="FF9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530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28655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CRITERION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/ UX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FF9DE2">
              <a:alpha val="22000"/>
            </a:srgbClr>
          </a:solidFill>
          <a:ln w="12700">
            <a:solidFill>
              <a:srgbClr val="FF9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9933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glassmorphic developer aesthetic — Vercel / Linear / Postman inspired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457200" cy="457200"/>
          </a:xfrm>
          <a:prstGeom prst="ellipse">
            <a:avLst/>
          </a:prstGeom>
          <a:solidFill>
            <a:srgbClr val="FF9DE2">
              <a:alpha val="22000"/>
            </a:srgbClr>
          </a:solidFill>
          <a:ln w="12700">
            <a:solidFill>
              <a:srgbClr val="FF9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animated pipeline diagram in the hero section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FF9DE2">
              <a:alpha val="22000"/>
            </a:srgbClr>
          </a:solidFill>
          <a:ln w="12700">
            <a:solidFill>
              <a:srgbClr val="FF9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9136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JSON syntax highlighting, just like an IDE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457200" cy="457200"/>
          </a:xfrm>
          <a:prstGeom prst="ellipse">
            <a:avLst/>
          </a:prstGeom>
          <a:solidFill>
            <a:srgbClr val="FF9DE2">
              <a:alpha val="22000"/>
            </a:srgbClr>
          </a:solidFill>
          <a:ln w="12700">
            <a:solidFill>
              <a:srgbClr val="FF9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8737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desktop, tablet &amp; mobile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1874520"/>
            <a:ext cx="5105095" cy="4206240"/>
          </a:xfrm>
          <a:prstGeom prst="roundRect">
            <a:avLst>
              <a:gd name="adj" fmla="val 2174"/>
            </a:avLst>
          </a:prstGeom>
          <a:solidFill>
            <a:srgbClr val="0E111A"/>
          </a:solidFill>
          <a:ln w="19050">
            <a:solidFill>
              <a:srgbClr val="262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2057400"/>
            <a:ext cx="128016" cy="128016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8312" y="2057400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Shape 20"/>
          <p:cNvSpPr/>
          <p:nvPr/>
        </p:nvSpPr>
        <p:spPr>
          <a:xfrm>
            <a:off x="7324344" y="205740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331720"/>
            <a:ext cx="5105095" cy="0"/>
          </a:xfrm>
          <a:prstGeom prst="line">
            <a:avLst/>
          </a:prstGeom>
          <a:noFill/>
          <a:ln w="12700">
            <a:solidFill>
              <a:srgbClr val="262B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560320"/>
            <a:ext cx="1036244" cy="594360"/>
          </a:xfrm>
          <a:prstGeom prst="roundRect">
            <a:avLst>
              <a:gd name="adj" fmla="val 9231"/>
            </a:avLst>
          </a:prstGeom>
          <a:solidFill>
            <a:srgbClr val="141826"/>
          </a:solidFill>
          <a:ln w="9525">
            <a:solidFill>
              <a:srgbClr val="262B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31404" y="2560320"/>
            <a:ext cx="1036244" cy="594360"/>
          </a:xfrm>
          <a:prstGeom prst="roundRect">
            <a:avLst>
              <a:gd name="adj" fmla="val 9231"/>
            </a:avLst>
          </a:prstGeom>
          <a:solidFill>
            <a:srgbClr val="141826"/>
          </a:solidFill>
          <a:ln w="9525">
            <a:solidFill>
              <a:srgbClr val="262B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4808" y="2560320"/>
            <a:ext cx="1036244" cy="594360"/>
          </a:xfrm>
          <a:prstGeom prst="roundRect">
            <a:avLst>
              <a:gd name="adj" fmla="val 9231"/>
            </a:avLst>
          </a:prstGeom>
          <a:solidFill>
            <a:srgbClr val="141826"/>
          </a:solidFill>
          <a:ln w="9525">
            <a:solidFill>
              <a:srgbClr val="262B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211" y="2560320"/>
            <a:ext cx="1036244" cy="594360"/>
          </a:xfrm>
          <a:prstGeom prst="roundRect">
            <a:avLst>
              <a:gd name="adj" fmla="val 9231"/>
            </a:avLst>
          </a:prstGeom>
          <a:solidFill>
            <a:srgbClr val="141826"/>
          </a:solidFill>
          <a:ln w="9525">
            <a:solidFill>
              <a:srgbClr val="262B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3337560"/>
            <a:ext cx="2186788" cy="2377440"/>
          </a:xfrm>
          <a:prstGeom prst="roundRect">
            <a:avLst>
              <a:gd name="adj" fmla="val 3345"/>
            </a:avLst>
          </a:prstGeom>
          <a:solidFill>
            <a:srgbClr val="141826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27668" y="3337560"/>
            <a:ext cx="2186788" cy="2377440"/>
          </a:xfrm>
          <a:prstGeom prst="roundRect">
            <a:avLst>
              <a:gd name="adj" fmla="val 3345"/>
            </a:avLst>
          </a:prstGeom>
          <a:solidFill>
            <a:srgbClr val="141826"/>
          </a:solidFill>
          <a:ln w="12700">
            <a:solidFill>
              <a:srgbClr val="33E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356616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1" name="Shape 29"/>
          <p:cNvSpPr/>
          <p:nvPr/>
        </p:nvSpPr>
        <p:spPr>
          <a:xfrm>
            <a:off x="9410548" y="356616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406908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3" name="Shape 31"/>
          <p:cNvSpPr/>
          <p:nvPr/>
        </p:nvSpPr>
        <p:spPr>
          <a:xfrm>
            <a:off x="9410548" y="406908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0" y="457200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5" name="Shape 33"/>
          <p:cNvSpPr/>
          <p:nvPr/>
        </p:nvSpPr>
        <p:spPr>
          <a:xfrm>
            <a:off x="9410548" y="457200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6" name="Shape 34"/>
          <p:cNvSpPr/>
          <p:nvPr/>
        </p:nvSpPr>
        <p:spPr>
          <a:xfrm>
            <a:off x="7040880" y="507492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0548" y="5074920"/>
            <a:ext cx="1821028" cy="292608"/>
          </a:xfrm>
          <a:prstGeom prst="roundRect">
            <a:avLst>
              <a:gd name="adj" fmla="val 15625"/>
            </a:avLst>
          </a:prstGeom>
          <a:solidFill>
            <a:srgbClr val="1B203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585216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3117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/ 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457200"/>
            <a:ext cx="960120" cy="960120"/>
          </a:xfrm>
          <a:prstGeom prst="ellipse">
            <a:avLst/>
          </a:prstGeom>
          <a:solidFill>
            <a:srgbClr val="B9B4E8">
              <a:alpha val="88000"/>
            </a:srgbClr>
          </a:solidFill>
          <a:ln w="12700">
            <a:solidFill>
              <a:srgbClr val="B9B4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530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28655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D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CRITERION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 and Demo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just watched wasn't staged.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60904"/>
            <a:ext cx="475488" cy="475488"/>
          </a:xfrm>
          <a:prstGeom prst="ellipse">
            <a:avLst/>
          </a:prstGeom>
          <a:solidFill>
            <a:srgbClr val="B9B4E8">
              <a:alpha val="22000"/>
            </a:srgbClr>
          </a:solidFill>
          <a:ln w="12700">
            <a:solidFill>
              <a:srgbClr val="B9B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“View Demo” ran the entire pipeline live, start to finish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75304"/>
            <a:ext cx="475488" cy="475488"/>
          </a:xfrm>
          <a:prstGeom prst="ellipse">
            <a:avLst/>
          </a:prstGeom>
          <a:solidFill>
            <a:srgbClr val="B9B4E8">
              <a:alpha val="22000"/>
            </a:srgbClr>
          </a:solidFill>
          <a:ln w="12700">
            <a:solidFill>
              <a:srgbClr val="B9B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15" name="Text 13"/>
          <p:cNvSpPr/>
          <p:nvPr/>
        </p:nvSpPr>
        <p:spPr>
          <a:xfrm>
            <a:off x="1417320" y="34290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schema edit, regenerated on the spot — proving the logic is real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89704"/>
            <a:ext cx="475488" cy="475488"/>
          </a:xfrm>
          <a:prstGeom prst="ellipse">
            <a:avLst/>
          </a:prstGeom>
          <a:solidFill>
            <a:srgbClr val="B9B4E8">
              <a:alpha val="22000"/>
            </a:srgbClr>
          </a:solidFill>
          <a:ln w="12700">
            <a:solidFill>
              <a:srgbClr val="B9B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19" name="Text 17"/>
          <p:cNvSpPr/>
          <p:nvPr/>
        </p:nvSpPr>
        <p:spPr>
          <a:xfrm>
            <a:off x="1417320" y="43434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JSON, endpoints &amp; SDK code shown directly on screen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25780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404104"/>
            <a:ext cx="475488" cy="475488"/>
          </a:xfrm>
          <a:prstGeom prst="ellipse">
            <a:avLst/>
          </a:prstGeom>
          <a:solidFill>
            <a:srgbClr val="B9B4E8">
              <a:alpha val="22000"/>
            </a:srgbClr>
          </a:solidFill>
          <a:ln w="12700">
            <a:solidFill>
              <a:srgbClr val="B9B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404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23" name="Text 21"/>
          <p:cNvSpPr/>
          <p:nvPr/>
        </p:nvSpPr>
        <p:spPr>
          <a:xfrm>
            <a:off x="1417320" y="52578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Telemetry feed updated in real time as requests were sent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MOCKUP GENERATOR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3117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 &amp; Demo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ON THE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C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points.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0" y="24231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909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+  25  +  20  +  15  +  10  +  10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3200400"/>
            <a:ext cx="7802575" cy="1371600"/>
          </a:xfrm>
          <a:prstGeom prst="roundRect">
            <a:avLst>
              <a:gd name="adj" fmla="val 6000"/>
            </a:avLst>
          </a:prstGeom>
          <a:solidFill>
            <a:srgbClr val="141826"/>
          </a:solidFill>
          <a:ln w="12700">
            <a:solidFill>
              <a:srgbClr val="262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3337560"/>
            <a:ext cx="7253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turn a plain-English description of an API into a fully working, testable, schema-validated mock API with auto-generated frontend code — instantly, in the browser, with zero setup.”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— happy to take your questions.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 one day  ·  HTML, CSS &amp; vanilla JavaScript  ·  zero dependencies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2026-07-10T17:32:00Z</dcterms:created>
  <dcterms:modified xsi:type="dcterms:W3CDTF">2026-07-10T17:32:00Z</dcterms:modified>
</cp:coreProperties>
</file>